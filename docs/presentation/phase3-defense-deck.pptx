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430d52327843d3" /><Relationship Type="http://schemas.openxmlformats.org/officeDocument/2006/relationships/extended-properties" Target="/docProps/app.xml" Id="Rc3bb14bc02304b65" /><Relationship Type="http://schemas.openxmlformats.org/officeDocument/2006/relationships/officeDocument" Target="/ppt/presentation.xml" Id="R3788896aab9e4c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c4bd4cf02a4843"/>
  </p:sldMasterIdLst>
  <p:notesMasterIdLst>
    <p:notesMasterId xmlns:r="http://schemas.openxmlformats.org/officeDocument/2006/relationships" r:id="R22c9b4f15e0b468a"/>
  </p:notesMasterIdLst>
  <p:sldIdLst>
    <p:sldId xmlns:r="http://schemas.openxmlformats.org/officeDocument/2006/relationships" id="256" r:id="Rb6e7fad9eb83468e"/>
    <p:sldId xmlns:r="http://schemas.openxmlformats.org/officeDocument/2006/relationships" id="257" r:id="R11e8d28ccbb54ba2"/>
    <p:sldId xmlns:r="http://schemas.openxmlformats.org/officeDocument/2006/relationships" id="258" r:id="R4bb227d2a9c74d74"/>
    <p:sldId xmlns:r="http://schemas.openxmlformats.org/officeDocument/2006/relationships" id="259" r:id="R3261ff708aa342ff"/>
    <p:sldId xmlns:r="http://schemas.openxmlformats.org/officeDocument/2006/relationships" id="260" r:id="Rcac55b6f20d149ae"/>
    <p:sldId xmlns:r="http://schemas.openxmlformats.org/officeDocument/2006/relationships" id="261" r:id="R18ae095224074243"/>
    <p:sldId xmlns:r="http://schemas.openxmlformats.org/officeDocument/2006/relationships" id="262" r:id="Rdc43df7520e54927"/>
    <p:sldId xmlns:r="http://schemas.openxmlformats.org/officeDocument/2006/relationships" id="263" r:id="R91c45a363d0b4ce3"/>
    <p:sldId xmlns:r="http://schemas.openxmlformats.org/officeDocument/2006/relationships" id="264" r:id="Rc3f81c52429b4875"/>
    <p:sldId xmlns:r="http://schemas.openxmlformats.org/officeDocument/2006/relationships" id="265" r:id="Ra45b7e835ea44e8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f043f5c2374099" /><Relationship Type="http://schemas.openxmlformats.org/officeDocument/2006/relationships/slideMaster" Target="/ppt/slideMasters/slideMaster1.xml" Id="Rc1c4bd4cf02a4843" /><Relationship Type="http://schemas.openxmlformats.org/officeDocument/2006/relationships/notesMaster" Target="/ppt/notesMasters/notesMaster1.xml" Id="R22c9b4f15e0b468a" /><Relationship Type="http://schemas.openxmlformats.org/officeDocument/2006/relationships/presProps" Target="/ppt/presProps.xml" Id="R7962ef96d3f8472a" /><Relationship Type="http://schemas.openxmlformats.org/officeDocument/2006/relationships/tableStyles" Target="/ppt/tableStyles.xml" Id="R457783f9f0be4be9" /><Relationship Type="http://schemas.openxmlformats.org/officeDocument/2006/relationships/slide" Target="/ppt/slides/slide1.xml" Id="Rb6e7fad9eb83468e" /><Relationship Type="http://schemas.openxmlformats.org/officeDocument/2006/relationships/slide" Target="/ppt/slides/slide2.xml" Id="R11e8d28ccbb54ba2" /><Relationship Type="http://schemas.openxmlformats.org/officeDocument/2006/relationships/slide" Target="/ppt/slides/slide3.xml" Id="R4bb227d2a9c74d74" /><Relationship Type="http://schemas.openxmlformats.org/officeDocument/2006/relationships/slide" Target="/ppt/slides/slide4.xml" Id="R3261ff708aa342ff" /><Relationship Type="http://schemas.openxmlformats.org/officeDocument/2006/relationships/slide" Target="/ppt/slides/slide5.xml" Id="Rcac55b6f20d149ae" /><Relationship Type="http://schemas.openxmlformats.org/officeDocument/2006/relationships/slide" Target="/ppt/slides/slide6.xml" Id="R18ae095224074243" /><Relationship Type="http://schemas.openxmlformats.org/officeDocument/2006/relationships/slide" Target="/ppt/slides/slide7.xml" Id="Rdc43df7520e54927" /><Relationship Type="http://schemas.openxmlformats.org/officeDocument/2006/relationships/slide" Target="/ppt/slides/slide8.xml" Id="R91c45a363d0b4ce3" /><Relationship Type="http://schemas.openxmlformats.org/officeDocument/2006/relationships/slide" Target="/ppt/slides/slide9.xml" Id="Rc3f81c52429b4875" /><Relationship Type="http://schemas.openxmlformats.org/officeDocument/2006/relationships/slide" Target="/ppt/slides/slide10.xml" Id="Ra45b7e835ea44e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7a8730d82b45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3bfb32dcf54425" /><Relationship Type="http://schemas.openxmlformats.org/officeDocument/2006/relationships/notesMaster" Target="/ppt/notesMasters/notesMaster1.xml" Id="Re3e490bedf7b42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4eb9d423484411" /><Relationship Type="http://schemas.openxmlformats.org/officeDocument/2006/relationships/notesMaster" Target="/ppt/notesMasters/notesMaster1.xml" Id="R1c07b1afe9e841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bf7a1895a740a8" /><Relationship Type="http://schemas.openxmlformats.org/officeDocument/2006/relationships/notesMaster" Target="/ppt/notesMasters/notesMaster1.xml" Id="R0d19b6c2f6544f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85a2e155204aec" /><Relationship Type="http://schemas.openxmlformats.org/officeDocument/2006/relationships/notesMaster" Target="/ppt/notesMasters/notesMaster1.xml" Id="R5f695e0be2044b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6cdc5cb5e64388" /><Relationship Type="http://schemas.openxmlformats.org/officeDocument/2006/relationships/notesMaster" Target="/ppt/notesMasters/notesMaster1.xml" Id="Re89ee2e6f62c4e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ef35575a28477e" /><Relationship Type="http://schemas.openxmlformats.org/officeDocument/2006/relationships/notesMaster" Target="/ppt/notesMasters/notesMaster1.xml" Id="R44caf8c6cdcf42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e6a577c1ae43b2" /><Relationship Type="http://schemas.openxmlformats.org/officeDocument/2006/relationships/notesMaster" Target="/ppt/notesMasters/notesMaster1.xml" Id="R18ecfb15190e4cd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d92d3199504055" /><Relationship Type="http://schemas.openxmlformats.org/officeDocument/2006/relationships/notesMaster" Target="/ppt/notesMasters/notesMaster1.xml" Id="R19bb47d0f19749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3b2e5b493f4d92" /><Relationship Type="http://schemas.openxmlformats.org/officeDocument/2006/relationships/notesMaster" Target="/ppt/notesMasters/notesMaster1.xml" Id="R339cfcb7c1124ca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cd365ade71b48c3" /><Relationship Type="http://schemas.openxmlformats.org/officeDocument/2006/relationships/notesMaster" Target="/ppt/notesMasters/notesMaster1.xml" Id="Rfe62109f12594f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d146ee6ceb42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28542d312a44c0" /><Relationship Type="http://schemas.openxmlformats.org/officeDocument/2006/relationships/slideLayout" Target="/ppt/slideLayouts/slideLayout1.xml" Id="R53b58fb7f39c4d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b58fb7f39c4d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b15b02da240e2" /><Relationship Type="http://schemas.openxmlformats.org/officeDocument/2006/relationships/notesSlide" Target="/ppt/notesSlides/notesSlide1.xml" Id="R3d0e053c54114c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5b7be75d04066" /><Relationship Type="http://schemas.openxmlformats.org/officeDocument/2006/relationships/notesSlide" Target="/ppt/notesSlides/notesSlide2.xml" Id="R8a3c02dddc9a47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da7c8d332b4414" /><Relationship Type="http://schemas.openxmlformats.org/officeDocument/2006/relationships/notesSlide" Target="/ppt/notesSlides/notesSlide3.xml" Id="R922fc7d73e3244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e208356bca4c1f" /><Relationship Type="http://schemas.openxmlformats.org/officeDocument/2006/relationships/notesSlide" Target="/ppt/notesSlides/notesSlide4.xml" Id="R6b39356a2a3c4c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d18a7651d3471b" /><Relationship Type="http://schemas.openxmlformats.org/officeDocument/2006/relationships/notesSlide" Target="/ppt/notesSlides/notesSlide5.xml" Id="R6b0c8839e1f941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fbae3946b44a17" /><Relationship Type="http://schemas.openxmlformats.org/officeDocument/2006/relationships/chart" Target="/ppt/slides/charts/chart1.xml" Id="Rf3ea2ad5587f4691" /><Relationship Type="http://schemas.openxmlformats.org/officeDocument/2006/relationships/notesSlide" Target="/ppt/notesSlides/notesSlide6.xml" Id="R90a5a2f637d34d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9fabda16547c4" /><Relationship Type="http://schemas.openxmlformats.org/officeDocument/2006/relationships/image" Target="/ppt/media/image.png" Id="R9358d5c5b7e04b71" /><Relationship Type="http://schemas.openxmlformats.org/officeDocument/2006/relationships/image" Target="/ppt/media/image2.png" Id="R655990f47c964180" /><Relationship Type="http://schemas.openxmlformats.org/officeDocument/2006/relationships/notesSlide" Target="/ppt/notesSlides/notesSlide7.xml" Id="R9e019d53daeb40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8a0cc60a054e8b" /><Relationship Type="http://schemas.openxmlformats.org/officeDocument/2006/relationships/notesSlide" Target="/ppt/notesSlides/notesSlide8.xml" Id="R74079e05e7d04d3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9d12b089594096" /><Relationship Type="http://schemas.openxmlformats.org/officeDocument/2006/relationships/notesSlide" Target="/ppt/notesSlides/notesSlide9.xml" Id="R15b708f32a904cc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cbf77b3d04da3" /><Relationship Type="http://schemas.openxmlformats.org/officeDocument/2006/relationships/notesSlide" Target="/ppt/notesSlides/notesSlide10.xml" Id="R40e8e9572c844d4d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Initial JS (kB)</c:v>
          </c:tx>
          <c:spPr>
            <a:solidFill xmlns:a="http://schemas.openxmlformats.org/drawingml/2006/main">
              <a:srgbClr val="B27A2D"/>
            </a:solidFill>
          </c:spPr>
          <c:cat>
            <c:strLit>
              <c:ptCount val="2"/>
              <c:pt idx="0">
                <c:v>origin/main</c:v>
              </c:pt>
              <c:pt idx="1">
                <c:v>Phase 3</c:v>
              </c:pt>
            </c:strLit>
          </c:cat>
          <c:val>
            <c:numLit>
              <c:formatCode>General</c:formatCode>
              <c:ptCount val="2"/>
              <c:pt idx="0">
                <c:v>999.2</c:v>
              </c:pt>
              <c:pt idx="1">
                <c:v>320.7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7E7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25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63EBA2-888B-47DD-BCB5-408E7060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27A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27A2D"/>
                </a:solidFill>
                <a:latin typeface="Helvetica Neue"/>
                <a:ea typeface="Helvetica Neue"/>
                <a:cs typeface="Helvetica Neue"/>
              </a:rPr>
              <a:t>SWP391 • LIBRARY MANAGEMENT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4567C8-FF70-420C-86C7-E6365786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9620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Phase 3 makes the</a:t>
            </a:r>
          </a:p>
          <a:p xmlns:a="http://schemas.openxmlformats.org/drawingml/2006/main">
            <a:pPr algn="l">
              <a:defRPr sz="6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release defendable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FF180-7D89-46AE-AF4C-91F03A8D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Staging • Live SQL • Performance • User testing • Delivery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042F6E-359F-48B1-B5A0-D1DB14C0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19 July 2026</a:t>
            </a:r>
          </a:p>
        </p:txBody>
      </p:sp>
    </p:spTree>
    <p:extLst>
      <p:ext uri="{BB962C8B-B14F-4D97-AF65-F5344CB8AC3E}">
        <p14:creationId xmlns:p14="http://schemas.microsoft.com/office/powerpoint/2010/main" val="13470124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F0A30830-BBEE-46E4-B803-2913838A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23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Phase 3 adds confidence—not new business scope</a:t>
            </a:r>
          </a:p>
        </p:txBody>
      </p:sp>
      <p:sp>
        <p:nvSpPr>
          <p:cNvPr id="2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6CA32015-9080-4C0B-A4F7-67621AC3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32EC15-FBEA-4FCE-A4A7-1CB0163F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383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B27A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B27A2D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348DB9-DE9C-4EEC-B643-BC34B0A9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8478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features complete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BA172E-6E52-4A08-ACC2-739283BF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343150"/>
            <a:ext cx="371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FE01–FE12 retain the accepted Phase 2 contracts.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18EAF3-BB00-46F7-ABA6-EC1071ED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383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B27A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B27A2D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DB831A-1913-403F-B84C-144261AB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478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role audiences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23B3AB-EAB5-4864-BF81-0D7383C4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43150"/>
            <a:ext cx="371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Guest, Member, Librarian, and Admin stay server-authorized.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EFE36C-7838-43B5-B6C2-73018C7D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383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B27A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B27A2D"/>
                </a:solidFill>
                <a:latin typeface="Helvetica Neue"/>
                <a:ea typeface="Helvetica Neue"/>
                <a:cs typeface="Helvetica Neue"/>
              </a:rPr>
              <a:t>100%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6179AE-F526-48BE-BFDE-3818186A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03860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FR traceability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5287C6-B4AD-485B-AE47-D3F20BB7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533900"/>
            <a:ext cx="371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Every implemented feature maps source rules to code evidence.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808AC6-4DA4-426F-84C4-13F71982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066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B27A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B27A2D"/>
                </a:solidFill>
                <a:latin typeface="Helvetica Neue"/>
                <a:ea typeface="Helvetica Neue"/>
                <a:cs typeface="Helvetica Neue"/>
              </a:rPr>
              <a:t>4 layers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36E7A0-44C2-47FD-9A14-46BAB3DC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3860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validation required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4816E5-F1A6-4E6E-8181-423FED4E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33900"/>
            <a:ext cx="371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Automated, spec, safety, and acceptance evidence all remain mandatory.</a:t>
            </a:r>
          </a:p>
        </p:txBody>
      </p:sp>
      <p:sp>
        <p:nvSpPr>
          <p:cNvPr id="1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9CA95111-F9E8-4768-BC06-9100A6C3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Source: Phase 2 exit validation; Phase 3 design and plan.</a:t>
            </a:r>
          </a:p>
        </p:txBody>
      </p:sp>
    </p:spTree>
    <p:extLst>
      <p:ext uri="{BB962C8B-B14F-4D97-AF65-F5344CB8AC3E}">
        <p14:creationId xmlns:p14="http://schemas.microsoft.com/office/powerpoint/2010/main" val="935444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5C5562EB-9DC7-4C31-A88E-3D165761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23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Every deployed boundary is observable</a:t>
            </a:r>
          </a:p>
        </p:txBody>
      </p:sp>
      <p:sp>
        <p:nvSpPr>
          <p:cNvPr id="2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941F3A5D-13F3-4DD5-B315-229C1AA4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7C1B99-B02B-43EB-857C-ABE61222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71625"/>
            <a:ext cx="9715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27A2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40D63F-5022-4228-8800-C7EEA724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52600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GitHub Actions  →  quality gate  →  backend/frontend deploy  →  staging smoke</a:t>
            </a:r>
          </a:p>
        </p:txBody>
      </p:sp>
      <p:sp>
        <p:nvSpPr>
          <p:cNvPr id="5" name="architecture-React">
            <a:extLst xmlns:a="http://schemas.openxmlformats.org/drawingml/2006/main">
              <a:ext uri="{FF2B5EF4-FFF2-40B4-BE49-F238E27FC236}">
                <a16:creationId xmlns:a16="http://schemas.microsoft.com/office/drawing/2014/main" id="{18AC95A5-1E95-4FB5-902E-C4704884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2762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architecture-Express API">
            <a:extLst xmlns:a="http://schemas.openxmlformats.org/drawingml/2006/main">
              <a:ext uri="{FF2B5EF4-FFF2-40B4-BE49-F238E27FC236}">
                <a16:creationId xmlns:a16="http://schemas.microsoft.com/office/drawing/2014/main" id="{CA798BFD-F618-4BCD-8AC0-621207B0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000375"/>
            <a:ext cx="2762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2E8D9"/>
          </a:solidFill>
          <a:ln xmlns:a="http://schemas.openxmlformats.org/drawingml/2006/main" w="9525">
            <a:solidFill>
              <a:srgbClr val="B27A2D"/>
            </a:solidFill>
            <a:prstDash val="solid"/>
          </a:ln>
        </p:spPr>
      </p:sp>
      <p:sp>
        <p:nvSpPr>
          <p:cNvPr id="7" name="architecture-SQL Server">
            <a:extLst xmlns:a="http://schemas.openxmlformats.org/drawingml/2006/main">
              <a:ext uri="{FF2B5EF4-FFF2-40B4-BE49-F238E27FC236}">
                <a16:creationId xmlns:a16="http://schemas.microsoft.com/office/drawing/2014/main" id="{F158EA19-1B83-40A1-9032-2EC0F139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00375"/>
            <a:ext cx="2762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524250" y="3976688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27A2D"/>
            </a:solidFill>
            <a:prstDash val="solid"/>
            <a:tailEnd type="arrow" w="med" len="med"/>
          </a:ln>
        </p:spPr>
      </p:cxnSp>
      <p:cxnSp>
        <p:nvCxnSpPr>
          <p:cNvPr id="3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096125" y="3976688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27A2D"/>
            </a:solidFill>
            <a:prstDash val="solid"/>
            <a:tailEnd type="arrow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B6E950-FC3D-4D45-A72B-83362D3D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86125"/>
            <a:ext cx="2305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F00A78-2DC1-4B86-9706-03CDF469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57625"/>
            <a:ext cx="2305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Azure Static Web Apps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1AB7A6-7705-4881-860B-42742AA3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0055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HTML + responsive UI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752146-AECD-46E3-BF96-DC34B8F2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286125"/>
            <a:ext cx="2305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Express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C01032-FFD9-4C1F-A55B-5A7022B0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857625"/>
            <a:ext cx="2305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Azure App Service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5362AE-169F-4DB3-9F87-07204492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40055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27A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B27A2D"/>
                </a:solidFill>
                <a:latin typeface="Helvetica Neue"/>
                <a:ea typeface="Helvetica Neue"/>
                <a:cs typeface="Helvetica Neue"/>
              </a:rPr>
              <a:t>CORS + protected 401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5A25D8-DDD6-462D-B65F-3AE5F4C4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86125"/>
            <a:ext cx="2305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SQL Server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DC96D9-4528-455F-96D4-DBACB6C0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57625"/>
            <a:ext cx="2305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Azure SQL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E84123-7602-40F6-9B7D-4A105EA5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0055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public catalog query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9B0FDC-D45F-428D-8C45-F350E73A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519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Frontend: lemon-wave-04db51100.7.azurestaticapps.net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786D42-A40F-4D81-A138-0CB4C67F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816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API: app-library-api-staging-nhat714.azurewebsites.net</a:t>
            </a:r>
          </a:p>
        </p:txBody>
      </p:sp>
      <p:sp>
        <p:nvSpPr>
          <p:cNvPr id="21" name="source-note">
            <a:extLst xmlns:a="http://schemas.openxmlformats.org/drawingml/2006/main">
              <a:ext uri="{FF2B5EF4-FFF2-40B4-BE49-F238E27FC236}">
                <a16:creationId xmlns:a16="http://schemas.microsoft.com/office/drawing/2014/main" id="{A6AC629B-FE4E-4654-8173-BB9F26EA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Source: phase3-staging-evidence-2026-07-19.md</a:t>
            </a:r>
          </a:p>
        </p:txBody>
      </p:sp>
    </p:spTree>
    <p:extLst>
      <p:ext uri="{BB962C8B-B14F-4D97-AF65-F5344CB8AC3E}">
        <p14:creationId xmlns:p14="http://schemas.microsoft.com/office/powerpoint/2010/main" val="14784619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6DBF4FBB-EDC3-4A4F-84E8-1B2FC5B5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23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Release readiness is measured, not declared</a:t>
            </a:r>
          </a:p>
        </p:txBody>
      </p:sp>
      <p:sp>
        <p:nvSpPr>
          <p:cNvPr id="2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1AEEC165-F1D3-4CAD-A9E3-01B1C7A9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B911F2-E2E3-4C81-A26C-8FB5154C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858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Coverage remains above 80% • deployment utilities 8/8 • browser E2E 4/4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73B7CE-934F-49C2-B0C8-D026E736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623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D1D1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B6C634-240F-4A34-A6BD-5DD59016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3028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916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2CA7E8-A6D1-45ED-A96F-2A2EC510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302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backend tests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89AFE9-022A-435A-83F9-9F83EADC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48150"/>
            <a:ext cx="3028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53 suites passed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FCCF4C-8211-42DC-AE79-622942CD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623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D1D1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236AF6-6B6A-46C4-97E2-C196E65B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857500"/>
            <a:ext cx="3028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151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BD544E-85DE-478D-9609-559AADB5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771900"/>
            <a:ext cx="302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frontend tests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F9C384-A894-480E-8706-7CFD6F4B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48150"/>
            <a:ext cx="3028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route and UI contracts passed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4A938C-A6C5-4CAA-8422-1EB89979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623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2E8D9"/>
          </a:solidFill>
          <a:ln xmlns:a="http://schemas.openxmlformats.org/drawingml/2006/main" w="9525">
            <a:solidFill>
              <a:srgbClr val="D1D1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419D39-CDD5-4FFC-BFFA-4CB6DB5B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57500"/>
            <a:ext cx="3028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100%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741E16-456C-4D77-9B8A-5C1A9126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71900"/>
            <a:ext cx="302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FR traceability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4658BF-1977-4C3B-B2A5-59F8F1D7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48150"/>
            <a:ext cx="3028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12 of 12 feature packages complete</a:t>
            </a:r>
          </a:p>
        </p:txBody>
      </p:sp>
      <p:sp>
        <p:nvSpPr>
          <p:cNvPr id="16" name="source-note">
            <a:extLst xmlns:a="http://schemas.openxmlformats.org/drawingml/2006/main">
              <a:ext uri="{FF2B5EF4-FFF2-40B4-BE49-F238E27FC236}">
                <a16:creationId xmlns:a16="http://schemas.microsoft.com/office/drawing/2014/main" id="{443303FB-8C87-47C2-8134-6F3C1A0B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Source: local baseline verification and Phase 2 exit evidence.</a:t>
            </a:r>
          </a:p>
        </p:txBody>
      </p:sp>
    </p:spTree>
    <p:extLst>
      <p:ext uri="{BB962C8B-B14F-4D97-AF65-F5344CB8AC3E}">
        <p14:creationId xmlns:p14="http://schemas.microsoft.com/office/powerpoint/2010/main" val="18665652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5F56B12E-1E78-4086-966C-2AF6A066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23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SQL-aware smoke test closed the real staging gap</a:t>
            </a:r>
          </a:p>
        </p:txBody>
      </p:sp>
      <p:sp>
        <p:nvSpPr>
          <p:cNvPr id="2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A93761FF-B713-4827-95CA-D043DE9A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39ED85-9D41-4D22-9568-4EA44BEA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3562350" cy="361950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D1D1D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B218FC-9E19-4AF6-9AB8-B33FBFF3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27A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B27A2D"/>
                </a:solidFill>
                <a:latin typeface="Helvetica Neue"/>
                <a:ea typeface="Helvetica Neue"/>
                <a:cs typeface="Helvetica Neue"/>
              </a:rPr>
              <a:t>DETECT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C4EA77-74AA-44C8-B1B6-A627AC0A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3028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Health looked green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D8048D-2312-4DEE-BAC2-25175254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30289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/health returned 200, but the first SQL-backed catalog check returned 500.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531E6B-9D83-4DDB-9388-9F2B7A90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571625"/>
            <a:ext cx="3562350" cy="361950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D1D1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856E0C-B8C4-4A11-AC8E-676EFBBC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88595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27A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B27A2D"/>
                </a:solidFill>
                <a:latin typeface="Helvetica Neue"/>
                <a:ea typeface="Helvetica Neue"/>
                <a:cs typeface="Helvetica Neue"/>
              </a:rPr>
              <a:t>DIAGNOSE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6011BA-94B1-4C03-8E7E-6FDF161D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428875"/>
            <a:ext cx="3028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Schema drift was concrete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959DEF-A682-480C-811C-FE82A800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638550"/>
            <a:ext cx="30289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Books.RowVersion was missing; the legacy ISBN index then blocked the migration.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EB716C-BFE3-4C04-BFCE-40B8925F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71625"/>
            <a:ext cx="3562350" cy="361950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D1D1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BA067A-B344-4F3D-B9ED-29F19671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8595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27A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B27A2D"/>
                </a:solidFill>
                <a:latin typeface="Helvetica Neue"/>
                <a:ea typeface="Helvetica Neue"/>
                <a:cs typeface="Helvetica Neue"/>
              </a:rPr>
              <a:t>PROVE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06A350-DE8B-4DBC-80B7-025012BF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28875"/>
            <a:ext cx="3028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fix is repeatable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7A377C-05B1-4659-ABF9-046AA71C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38550"/>
            <a:ext cx="30289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Five migrations ran twice; 20 tables validated; six-check smoke passed.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258448-6C6C-4424-BF12-A7294775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ACE2FF-E8BC-4DA7-8307-F3B259BC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53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5B5719-052D-45FE-B60E-54B32B5D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553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6DF37C-C0AD-4284-BBDC-FA858C0B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553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7A2D"/>
          </a:solidFill>
          <a:ln xmlns:a="http://schemas.openxmlformats.org/drawingml/2006/main" w="9525">
            <a:solidFill>
              <a:srgbClr val="B27A2D"/>
            </a:solidFill>
            <a:prstDash val="solid"/>
          </a:ln>
        </p:spPr>
      </p:sp>
      <p:sp>
        <p:nvSpPr>
          <p:cNvPr id="19" name="source-note">
            <a:extLst xmlns:a="http://schemas.openxmlformats.org/drawingml/2006/main">
              <a:ext uri="{FF2B5EF4-FFF2-40B4-BE49-F238E27FC236}">
                <a16:creationId xmlns:a16="http://schemas.microsoft.com/office/drawing/2014/main" id="{87CEA422-8880-452F-9E0E-7B854FC1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Source: Azure staging diagnosis, FE05 migration RED-GREEN, and six-check smoke.</a:t>
            </a:r>
          </a:p>
        </p:txBody>
      </p:sp>
    </p:spTree>
    <p:extLst>
      <p:ext uri="{BB962C8B-B14F-4D97-AF65-F5344CB8AC3E}">
        <p14:creationId xmlns:p14="http://schemas.microsoft.com/office/powerpoint/2010/main" val="15335958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2FFDE806-7A2C-4345-A13E-7DB5E156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23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Code-splitting cuts initial JavaScript by 67.9%</a:t>
            </a:r>
          </a:p>
        </p:txBody>
      </p:sp>
      <p:sp>
        <p:nvSpPr>
          <p:cNvPr id="2" name="slide-6-number">
            <a:extLst xmlns:a="http://schemas.openxmlformats.org/drawingml/2006/main">
              <a:ext uri="{FF2B5EF4-FFF2-40B4-BE49-F238E27FC236}">
                <a16:creationId xmlns:a16="http://schemas.microsoft.com/office/drawing/2014/main" id="{E3FA8BD4-3009-439F-B724-C2F53836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932A2E-76E9-4697-9EB8-AF1AD978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5476875" cy="495300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85800" y="1571625"/>
          <a:ext xmlns:a="http://schemas.openxmlformats.org/drawingml/2006/main" cx="4905375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3ea2ad5587f469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CD53A-7118-4352-906C-EF49D50A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00200"/>
            <a:ext cx="514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first page no longer downloads every operational screen.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98CCB5-F855-4C3B-871B-735AAAB2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90875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96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B27A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B27A2D"/>
                </a:solidFill>
                <a:latin typeface="Helvetica Neue"/>
                <a:ea typeface="Helvetica Neue"/>
                <a:cs typeface="Helvetica Neue"/>
              </a:rPr>
              <a:t>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D46863-EC86-481B-9EB8-E169E0C3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052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route-level chunks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472CF1-3F35-4323-81BB-C8FD410B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190875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66.95 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553D91-5B84-4166-AC6B-A2A87530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login p95 • bcrypt cost 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8FFEAA-4047-4762-ABF0-34A6BC10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9530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Session validation p95: 1.45 ms</a:t>
            </a:r>
          </a:p>
        </p:txBody>
      </p:sp>
      <p:sp>
        <p:nvSpPr>
          <p:cNvPr id="11" name="source-note">
            <a:extLst xmlns:a="http://schemas.openxmlformats.org/drawingml/2006/main">
              <a:ext uri="{FF2B5EF4-FFF2-40B4-BE49-F238E27FC236}">
                <a16:creationId xmlns:a16="http://schemas.microsoft.com/office/drawing/2014/main" id="{025A178A-4961-4756-9905-E74E362E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Source: phase3-performance-report-2026-07-19.md. Local deterministic timing; Azure SQL/network excluded.</a:t>
            </a:r>
          </a:p>
        </p:txBody>
      </p:sp>
    </p:spTree>
    <p:extLst>
      <p:ext uri="{BB962C8B-B14F-4D97-AF65-F5344CB8AC3E}">
        <p14:creationId xmlns:p14="http://schemas.microsoft.com/office/powerpoint/2010/main" val="13729947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0B638AA6-131C-477A-B3EB-153E429D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23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golden path still works after delivery polish</a:t>
            </a:r>
          </a:p>
        </p:txBody>
      </p:sp>
      <p:sp>
        <p:nvSpPr>
          <p:cNvPr id="2" name="slide-7-number">
            <a:extLst xmlns:a="http://schemas.openxmlformats.org/drawingml/2006/main">
              <a:ext uri="{FF2B5EF4-FFF2-40B4-BE49-F238E27FC236}">
                <a16:creationId xmlns:a16="http://schemas.microsoft.com/office/drawing/2014/main" id="{553A7105-51F5-477C-8516-A88940FC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A0127F-24DA-44AF-9B2B-E3434087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85875"/>
            <a:ext cx="7715250" cy="4572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58d5c5b7e04b71"/>
          <a:stretch xmlns:a="http://schemas.openxmlformats.org/drawingml/2006/main"/>
        </p:blipFill>
        <p:spPr>
          <a:xfrm xmlns:a="http://schemas.openxmlformats.org/drawingml/2006/main">
            <a:off x="514350" y="1466255"/>
            <a:ext cx="7486650" cy="4211241"/>
          </a:xfrm>
          <a:prstGeom xmlns:a="http://schemas.openxmlformats.org/drawingml/2006/main" prst="roundRect">
            <a:avLst>
              <a:gd name="adj" fmla="val 1754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CCD9BD-AB36-4397-9A5D-D5FB60EB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285875"/>
            <a:ext cx="2333625" cy="409575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5990f47c964180"/>
          <a:stretch xmlns:a="http://schemas.openxmlformats.org/drawingml/2006/main"/>
        </p:blipFill>
        <p:spPr>
          <a:xfrm xmlns:a="http://schemas.openxmlformats.org/drawingml/2006/main">
            <a:off x="8769636" y="1400175"/>
            <a:ext cx="1786953" cy="3867150"/>
          </a:xfrm>
          <a:prstGeom xmlns:a="http://schemas.openxmlformats.org/drawingml/2006/main" prst="roundRect">
            <a:avLst>
              <a:gd name="adj" fmla="val 362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28CEF4-3A3C-4C2B-9720-6822593E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572125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27A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B27A2D"/>
                </a:solidFill>
                <a:latin typeface="Helvetica Neue"/>
                <a:ea typeface="Helvetica Neue"/>
                <a:cs typeface="Helvetica Neue"/>
              </a:rPr>
              <a:t>4/4 browser flows • 24.4 s</a:t>
            </a:r>
          </a:p>
        </p:txBody>
      </p:sp>
      <p:sp>
        <p:nvSpPr>
          <p:cNvPr id="8" name="source-note">
            <a:extLst xmlns:a="http://schemas.openxmlformats.org/drawingml/2006/main">
              <a:ext uri="{FF2B5EF4-FFF2-40B4-BE49-F238E27FC236}">
                <a16:creationId xmlns:a16="http://schemas.microsoft.com/office/drawing/2014/main" id="{A91B8A96-1694-48DD-9D67-E4E189B1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Source: phase3-user-testing-record-2026-07-19.md</a:t>
            </a:r>
          </a:p>
        </p:txBody>
      </p:sp>
    </p:spTree>
    <p:extLst>
      <p:ext uri="{BB962C8B-B14F-4D97-AF65-F5344CB8AC3E}">
        <p14:creationId xmlns:p14="http://schemas.microsoft.com/office/powerpoint/2010/main" val="12651109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88CCC7BA-F5A5-4C35-95BF-1A3F798F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23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What is proven—and what is deliberately not claimed</a:t>
            </a:r>
          </a:p>
        </p:txBody>
      </p:sp>
      <p:sp>
        <p:nvSpPr>
          <p:cNvPr id="2" name="slide-8-number">
            <a:extLst xmlns:a="http://schemas.openxmlformats.org/drawingml/2006/main">
              <a:ext uri="{FF2B5EF4-FFF2-40B4-BE49-F238E27FC236}">
                <a16:creationId xmlns:a16="http://schemas.microsoft.com/office/drawing/2014/main" id="{E9BCF88B-2795-415C-8231-E0C7C6F6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7B0928-8CB9-4ABE-B0C6-69292302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Explicit boundaries keep the final report credible.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400050" y="1666875"/>
          <a:ext xmlns:a="http://schemas.openxmlformats.org/drawingml/2006/main" cx="113919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2000250"/>
                <a:gridCol w="5867400"/>
              </a:tblGrid>
              <a:tr h="58510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 area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Status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Release meaning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Public frontend / API / SQL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7A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E2F3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Observed by the six-check staging smoke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CORS + anonymous auth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7A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E2F3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Exact origin allowed; /auth/me returns 401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Authenticated Azure golden path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A33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OBSERVED</a:t>
                      </a:r>
                    </a:p>
                  </a:txBody>
                  <a:tcPr marL="91440" marR="91440" marT="45720" marB="45720">
                    <a:solidFill>
                      <a:srgbClr val="F7E3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safe live Member/Librarian credential used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Real SMTP inbox delivery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A33A3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OBSERVED</a:t>
                      </a:r>
                    </a:p>
                  </a:txBody>
                  <a:tcPr marL="91440" marR="91440" marT="45720" marB="45720">
                    <a:solidFill>
                      <a:srgbClr val="F7E3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Provider settings do not prove delivery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Durable avatar storage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27A2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LIMITATION</a:t>
                      </a:r>
                    </a:p>
                  </a:txBody>
                  <a:tcPr marL="91440" marR="91440" marT="45720" marB="45720">
                    <a:solidFill>
                      <a:srgbClr val="F2E8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App Service filesystem is not production-durable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Production SLA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27A2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OUT OF SCOPE</a:t>
                      </a:r>
                    </a:p>
                  </a:txBody>
                  <a:tcPr marL="91440" marR="91440" marT="45720" marB="45720">
                    <a:solidFill>
                      <a:srgbClr val="F2E8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Student-credit staging only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2B43C7BC-D838-4DBF-BB9F-87487323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Source: Phase 3 staging and user-testing evidence.</a:t>
            </a:r>
          </a:p>
        </p:txBody>
      </p:sp>
    </p:spTree>
    <p:extLst>
      <p:ext uri="{BB962C8B-B14F-4D97-AF65-F5344CB8AC3E}">
        <p14:creationId xmlns:p14="http://schemas.microsoft.com/office/powerpoint/2010/main" val="869929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7E1AA589-1582-4996-9651-5C6B2D07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23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defense demo follows one repeatable five-minute path</a:t>
            </a:r>
          </a:p>
        </p:txBody>
      </p:sp>
      <p:sp>
        <p:nvSpPr>
          <p:cNvPr id="2" name="slide-9-number">
            <a:extLst xmlns:a="http://schemas.openxmlformats.org/drawingml/2006/main">
              <a:ext uri="{FF2B5EF4-FFF2-40B4-BE49-F238E27FC236}">
                <a16:creationId xmlns:a16="http://schemas.microsoft.com/office/drawing/2014/main" id="{07248D4C-C65C-487B-8285-8D60D0FD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D08DA8-6235-4D6E-A3B8-24E4C748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5275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C5728D-95E9-4242-88A9-7A1A5DD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D48726-65C5-4C08-81E9-EAE53021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52725"/>
            <a:ext cx="64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4B54F6-C4B6-43E1-9E21-8E7FECF2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24250"/>
            <a:ext cx="140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Login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3E222C-78E0-4558-BC2E-07880865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289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6F6D20-337E-42FC-B5F8-D9DE3732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52725"/>
            <a:ext cx="64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8A70CF-35C6-465D-8769-F1C0163F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24250"/>
            <a:ext cx="140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Borrow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2381B3-9B0D-42F2-AA5E-78020E79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289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873C77-185F-4009-AE07-1A5DA01E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52725"/>
            <a:ext cx="64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6720A7-1A9A-49CE-BF23-7FE97F8B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24250"/>
            <a:ext cx="140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Approve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4056F2-ED87-421C-A001-53FCD7D9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289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4E3ED0-C215-4AFE-A1B2-30F60C43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52725"/>
            <a:ext cx="64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8B427B-4B60-416E-8353-F0838CD5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24250"/>
            <a:ext cx="140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Return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5F4065-FF25-4658-8C50-8E488876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289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70C198-6038-44D2-90D3-2E8C8E1B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52725"/>
            <a:ext cx="64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74E184-7B2E-4E0D-943F-4B1CC1B9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24250"/>
            <a:ext cx="140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Pay fine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87896B-AC78-4C42-B79B-E2BF574A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289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7A2D"/>
          </a:solidFill>
          <a:ln xmlns:a="http://schemas.openxmlformats.org/drawingml/2006/main" w="19050">
            <a:solidFill>
              <a:srgbClr val="B27A2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4A3E18-4A33-47A6-B38A-4979AB17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752725"/>
            <a:ext cx="64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86B7AC-2A02-4ACC-9792-67363D2A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0"/>
            <a:ext cx="140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477650-EB15-4AB2-A8B9-66390912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572000"/>
            <a:ext cx="9620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D1D1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426F4C-B3D4-47F1-AF5D-4C2CE003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9585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Fallback evidence:  six-check staging smoke   •   test:system   •   verified screenshots</a:t>
            </a:r>
          </a:p>
        </p:txBody>
      </p:sp>
      <p:sp>
        <p:nvSpPr>
          <p:cNvPr id="24" name="source-note">
            <a:extLst xmlns:a="http://schemas.openxmlformats.org/drawingml/2006/main">
              <a:ext uri="{FF2B5EF4-FFF2-40B4-BE49-F238E27FC236}">
                <a16:creationId xmlns:a16="http://schemas.microsoft.com/office/drawing/2014/main" id="{D41EEAA5-87C3-40DF-A07E-F0345E7F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Source: system-integration-demo-runbook.md</a:t>
            </a:r>
          </a:p>
        </p:txBody>
      </p:sp>
    </p:spTree>
    <p:extLst>
      <p:ext uri="{BB962C8B-B14F-4D97-AF65-F5344CB8AC3E}">
        <p14:creationId xmlns:p14="http://schemas.microsoft.com/office/powerpoint/2010/main" val="10546121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828568-5FBE-4764-9B4C-8745B91A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27A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27A2D"/>
                </a:solidFill>
                <a:latin typeface="Helvetica Neue"/>
                <a:ea typeface="Helvetica Neue"/>
                <a:cs typeface="Helvetica Neue"/>
              </a:rPr>
              <a:t>RELEASE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1455E5-BFD6-4528-BE44-2C32A101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9525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Phase 3 is ready</a:t>
            </a:r>
          </a:p>
          <a:p xmlns:a="http://schemas.openxmlformats.org/drawingml/2006/main">
            <a:pPr algn="l">
              <a:defRPr sz="6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for integration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A851F-C564-414B-8107-BF12A246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Merge the branch, require CI, then rerun the six-check staging deployment.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760686-3B7C-4201-A45E-F9043D27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816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5F5F"/>
                </a:solidFill>
                <a:latin typeface="Helvetica Neue"/>
                <a:ea typeface="Helvetica Neue"/>
                <a:cs typeface="Helvetica Neue"/>
              </a:rPr>
              <a:t>Keep authenticated Azure acceptance and real SMTP delivery open until they are actually observed.</a:t>
            </a:r>
          </a:p>
        </p:txBody>
      </p:sp>
    </p:spTree>
    <p:extLst>
      <p:ext uri="{BB962C8B-B14F-4D97-AF65-F5344CB8AC3E}">
        <p14:creationId xmlns:p14="http://schemas.microsoft.com/office/powerpoint/2010/main" val="5625882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2026-07-19T17:03:24.6490000Z</dcterms:created>
  <dcterms:modified xsi:type="dcterms:W3CDTF">2026-07-19T17:03:24.6490000Z</dcterms:modified>
</coreProperties>
</file>